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100000269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256032"/>
            <a:ext cx="5943600" cy="2971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419856"/>
            <a:ext cx="10287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0C6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Trust-based autonomy to prevent agentic operational loss.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1554480" y="4069080"/>
            <a:ext cx="9098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B9B5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TOWER is a mobile-first B2B SaaS control system for autonomous AI agents.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3886200" y="4736592"/>
            <a:ext cx="4434840" cy="713232"/>
          </a:xfrm>
          <a:prstGeom prst="roundRect">
            <a:avLst>
              <a:gd name="adj" fmla="val 10256"/>
            </a:avLst>
          </a:prstGeom>
          <a:solidFill>
            <a:srgbClr val="080B11"/>
          </a:solidFill>
          <a:ln w="12700">
            <a:solidFill>
              <a:srgbClr val="D6A24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60520" y="495604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1E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$500K PRE-SEED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989320" y="4882896"/>
            <a:ext cx="0" cy="365760"/>
          </a:xfrm>
          <a:prstGeom prst="line">
            <a:avLst/>
          </a:prstGeom>
          <a:noFill/>
          <a:ln w="12700">
            <a:solidFill>
              <a:srgbClr val="2B344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72200" y="495604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A24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alpha-ready → beta/release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64922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ARCHEPERSONA  |  Confidential Pre-Seed Deck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agents are gaining action, but not accountability.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58B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2B34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next AI risk is not bad answers.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 is bad actions.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13232" y="303580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0C6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Teams need control before agents create operational loss.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0" y="1508760"/>
            <a:ext cx="4023360" cy="3611880"/>
          </a:xfrm>
          <a:prstGeom prst="roundRect">
            <a:avLst>
              <a:gd name="adj" fmla="val 2025"/>
            </a:avLst>
          </a:prstGeom>
          <a:solidFill>
            <a:srgbClr val="090D14"/>
          </a:solidFill>
          <a:ln w="12700">
            <a:solidFill>
              <a:srgbClr val="2B34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35240" y="18288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D6A24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NEW FAILURE MODE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635240" y="2249424"/>
            <a:ext cx="1417320" cy="338328"/>
          </a:xfrm>
          <a:prstGeom prst="roundRect">
            <a:avLst>
              <a:gd name="adj" fmla="val 16216"/>
            </a:avLst>
          </a:prstGeom>
          <a:solidFill>
            <a:srgbClr val="121927"/>
          </a:solidFill>
          <a:ln w="12700">
            <a:solidFill>
              <a:srgbClr val="2B34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99248" y="2340864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4F1E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sending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9235440" y="2249424"/>
            <a:ext cx="1417320" cy="338328"/>
          </a:xfrm>
          <a:prstGeom prst="roundRect">
            <a:avLst>
              <a:gd name="adj" fmla="val 16216"/>
            </a:avLst>
          </a:prstGeom>
          <a:solidFill>
            <a:srgbClr val="121927"/>
          </a:solidFill>
          <a:ln w="12700">
            <a:solidFill>
              <a:srgbClr val="2B34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99448" y="2340864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4F1E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updating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7635240" y="2871216"/>
            <a:ext cx="1417320" cy="338328"/>
          </a:xfrm>
          <a:prstGeom prst="roundRect">
            <a:avLst>
              <a:gd name="adj" fmla="val 16216"/>
            </a:avLst>
          </a:prstGeom>
          <a:solidFill>
            <a:srgbClr val="121927"/>
          </a:solidFill>
          <a:ln w="12700">
            <a:solidFill>
              <a:srgbClr val="2B34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99248" y="2962656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4F1E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routing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9235440" y="2871216"/>
            <a:ext cx="1417320" cy="338328"/>
          </a:xfrm>
          <a:prstGeom prst="roundRect">
            <a:avLst>
              <a:gd name="adj" fmla="val 16216"/>
            </a:avLst>
          </a:prstGeom>
          <a:solidFill>
            <a:srgbClr val="121927"/>
          </a:solidFill>
          <a:ln w="12700">
            <a:solidFill>
              <a:srgbClr val="2B34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99448" y="2962656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4F1E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approving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635240" y="3493008"/>
            <a:ext cx="1417320" cy="338328"/>
          </a:xfrm>
          <a:prstGeom prst="roundRect">
            <a:avLst>
              <a:gd name="adj" fmla="val 16216"/>
            </a:avLst>
          </a:prstGeom>
          <a:solidFill>
            <a:srgbClr val="121927"/>
          </a:solidFill>
          <a:ln w="12700">
            <a:solidFill>
              <a:srgbClr val="2B34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99248" y="3584448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4F1E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accessing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9235440" y="3493008"/>
            <a:ext cx="1417320" cy="338328"/>
          </a:xfrm>
          <a:prstGeom prst="roundRect">
            <a:avLst>
              <a:gd name="adj" fmla="val 16216"/>
            </a:avLst>
          </a:prstGeom>
          <a:solidFill>
            <a:srgbClr val="121927"/>
          </a:solidFill>
          <a:ln w="12700">
            <a:solidFill>
              <a:srgbClr val="2B34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99448" y="3584448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4F1E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spending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635240" y="44348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9B5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Wrong output becomes operational consequence when agents act across real systems.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ARCHEPERSONA  |  Confidential Pre-Seed Deck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chatbots to autonomous agents.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58B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NOW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2B3442"/>
            </a:solidFill>
            <a:prstDash val="solid"/>
          </a:ln>
        </p:spPr>
      </p:sp>
      <p:pic>
        <p:nvPicPr>
          <p:cNvPr id="5" name="Image 0" descr="/mnt/data/998a4ac5-8954-49ee-8057-29fe4e5d8dc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00" y="1150000"/>
            <a:ext cx="11391695" cy="527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64922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ARCHEPERSONA  |  Confidential Pre-Seed Deck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risk is no longer theoretical.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58B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NOW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2B3442"/>
            </a:solidFill>
            <a:prstDash val="solid"/>
          </a:ln>
        </p:spPr>
      </p:sp>
      <p:pic>
        <p:nvPicPr>
          <p:cNvPr id="5" name="Image 0" descr="/mnt/data/risk_evidence_v2(1)_ren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00" y="1150000"/>
            <a:ext cx="11391695" cy="527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64922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ARCHEPERSONA  |  Confidential Pre-Seed Deck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CONTROL TOWER brings trust-based autonomy to AI agents.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58B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2B3442"/>
            </a:solidFill>
            <a:prstDash val="solid"/>
          </a:ln>
        </p:spPr>
      </p:sp>
      <p:pic>
        <p:nvPicPr>
          <p:cNvPr id="5" name="Image 0" descr="/mnt/data/solution_control_tower_ren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00" y="1150000"/>
            <a:ext cx="11391695" cy="527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64922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ARCHEPERSONA  |  Confidential Pre-Seed Deck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CONTROL TOWER works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58B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2B3442"/>
            </a:solidFill>
            <a:prstDash val="solid"/>
          </a:ln>
        </p:spPr>
      </p:sp>
      <p:pic>
        <p:nvPicPr>
          <p:cNvPr id="5" name="Image 0" descr="/mnt/data/control_tower_workflow_v2(1)_ren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00" y="1200000"/>
            <a:ext cx="11391695" cy="35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4820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B5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reviewable control flow before autonomous action reaches the business.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94360" y="64922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ARCHEPERSONA  |  Confidential Pre-Seed Deck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ARCHE has two product directions.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58B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2B3442"/>
            </a:solidFill>
            <a:prstDash val="solid"/>
          </a:ln>
        </p:spPr>
      </p:sp>
      <p:pic>
        <p:nvPicPr>
          <p:cNvPr id="5" name="Image 0" descr="/mnt/data/arche_structure_v10(1)_ren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00" y="1150000"/>
            <a:ext cx="11391695" cy="527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64922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ARCHEPERSONA  |  Confidential Pre-Seed Deck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Start where agent risk is already operational.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58B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Go-to-market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2B34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9844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CONTROL TOWER is built for businesses using AI agents.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B9B5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first wedge is companies already deploying agents into workflows where mistakes can trigger operational loss: sending, updating, routing, approving, accessing, or spending across business systems.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223760" y="1325880"/>
            <a:ext cx="3977640" cy="4343400"/>
          </a:xfrm>
          <a:prstGeom prst="roundRect">
            <a:avLst>
              <a:gd name="adj" fmla="val 1839"/>
            </a:avLst>
          </a:prstGeom>
          <a:solidFill>
            <a:srgbClr val="090D14"/>
          </a:solidFill>
          <a:ln w="12700">
            <a:solidFill>
              <a:srgbClr val="2B34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43800" y="16459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D6A24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INITIAL TARGETS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43800" y="2057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AI automation agencies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7543800" y="2468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Internal ops teams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7543800" y="2880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RevOps / sales automation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7543800" y="3291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Customer support automation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7543800" y="3703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Operations teams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7543800" y="41148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Enterprise AI teams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7543800" y="4526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Agent builders managing deployments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758952" y="4069080"/>
            <a:ext cx="571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0C6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Any business using agents is a potential customer. CONTROL TOWER starts where agent risk is already operational.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94360" y="64922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ARCHEPERSONA  |  Confidential Pre-Seed Deck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large market forming around agent control.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58B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2B3442"/>
            </a:solidFill>
            <a:prstDash val="solid"/>
          </a:ln>
        </p:spPr>
      </p:sp>
      <p:pic>
        <p:nvPicPr>
          <p:cNvPr id="5" name="Image 0" descr="/mnt/data/tam_sam_som_v5(1)_ren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00" y="1150000"/>
            <a:ext cx="11391695" cy="527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6080760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C737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Source: ArchePersona Market Research &amp; Platform Expansion Analysis, June 2026.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594360" y="64922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ARCHEPERSONA  |  Confidential Pre-Seed Deck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B2B SaaS for trust-based autonomy.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58B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model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2B3442"/>
            </a:solidFill>
            <a:prstDash val="solid"/>
          </a:ln>
        </p:spPr>
      </p:sp>
      <p:pic>
        <p:nvPicPr>
          <p:cNvPr id="5" name="Image 0" descr="/mnt/data/pricing_ladder_v2(1)_ren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00" y="1150000"/>
            <a:ext cx="11391695" cy="527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64922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ARCHEPERSONA  |  Confidential Pre-Seed Deck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gap is between agent intent and business action.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58B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Competition / differentiation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2B3442"/>
            </a:solidFill>
            <a:prstDash val="solid"/>
          </a:ln>
        </p:spPr>
      </p:sp>
      <p:pic>
        <p:nvPicPr>
          <p:cNvPr id="5" name="Image 0" descr="/mnt/data/competition_differentiation_ren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00" y="1150000"/>
            <a:ext cx="11391695" cy="527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64922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ARCHEPERSONA  |  Confidential Pre-Seed Deck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ARCHE is not pre-product.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58B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Traction / proof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2B34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34440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BRUNEL is live and demonstrates ARCHE’s behavior engine in real interaction.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0C6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CONTROL TOWER is alpha-ready as the first commercial product for trust-based autonomy.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0" y="1325880"/>
            <a:ext cx="3977640" cy="4251960"/>
          </a:xfrm>
          <a:prstGeom prst="roundRect">
            <a:avLst>
              <a:gd name="adj" fmla="val 1839"/>
            </a:avLst>
          </a:prstGeom>
          <a:solidFill>
            <a:srgbClr val="090D14"/>
          </a:solidFill>
          <a:ln w="12700">
            <a:solidFill>
              <a:srgbClr val="2B34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35240" y="16642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D6A24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PROOF STACK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635240" y="206654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BRUNEL live demo available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7635240" y="2542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Founder-built behavior engine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7635240" y="3017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CONTROL TOWER alpha-ready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7635240" y="34930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20K requests in 48 hours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7635240" y="39684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Visible behavioral difference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7635240" y="444398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Early investor interest after demo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777240" y="4983480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9B5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 is currently product signal, demand signal, and market signal — not revenue claims.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" y="64922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ARCHEPERSONA  |  Confidential Pre-Seed Deck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Founder-built behavior engine, now commercializing trust-based autonomy.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58B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 / team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2B3442"/>
            </a:solidFill>
            <a:prstDash val="solid"/>
          </a:ln>
        </p:spPr>
      </p:sp>
      <p:pic>
        <p:nvPicPr>
          <p:cNvPr id="5" name="Image 0" descr="/mnt/data/founder_card_v3(1)_ren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9720" y="1143000"/>
            <a:ext cx="9022080" cy="5074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64922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ARCHEPERSONA  |  Confidential Pre-Seed Deck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13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alpha-ready to beta/release.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58B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2B3442"/>
            </a:solidFill>
            <a:prstDash val="solid"/>
          </a:ln>
        </p:spPr>
      </p:sp>
      <p:pic>
        <p:nvPicPr>
          <p:cNvPr id="5" name="Image 0" descr="/mnt/data/roadmap_milestones_ren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00" y="1150000"/>
            <a:ext cx="11391695" cy="527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64922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ARCHEPERSONA  |  Confidential Pre-Seed Deck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14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Raising $500K pre-seed.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58B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of funds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2B34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801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0C6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Raising $500K pre-seed to move CONTROL TOWER from alpha-ready into beta/release, secure design partners, protect core IP, and build the foundation for scale.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68680" y="2423160"/>
            <a:ext cx="4983480" cy="3017520"/>
          </a:xfrm>
          <a:prstGeom prst="roundRect">
            <a:avLst>
              <a:gd name="adj" fmla="val 2424"/>
            </a:avLst>
          </a:prstGeom>
          <a:solidFill>
            <a:srgbClr val="090D14"/>
          </a:solidFill>
          <a:ln w="12700">
            <a:solidFill>
              <a:srgbClr val="2B34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7157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D6A24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USE OF FUNDS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3000" y="30632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CONTROL TOWER beta/release buildout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1143000" y="334670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Patent/IP protection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1143000" y="36301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Incorporation and legal formation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1143000" y="39136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CTO / technical lead hire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1143000" y="41970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Junior developer hire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1143000" y="44805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Design partner and pilot development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1143000" y="476402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Infrastructure and deployment stability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1143000" y="50474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Founder runway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400800" y="2423160"/>
            <a:ext cx="4800600" cy="3017520"/>
          </a:xfrm>
          <a:prstGeom prst="roundRect">
            <a:avLst>
              <a:gd name="adj" fmla="val 2424"/>
            </a:avLst>
          </a:prstGeom>
          <a:solidFill>
            <a:srgbClr val="090D14"/>
          </a:solidFill>
          <a:ln w="12700">
            <a:solidFill>
              <a:srgbClr val="D6A2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93408" y="27157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D6A24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DISCIPLINED RAISE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693408" y="315468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Enough to convert alpha-ready product into beta/release — not an oversized round before traction is converted.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693408" y="42976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9B5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outcomes: design partners, paid pilots or LOIs, protected IP, first technical hires, and seed-ready proof.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ARCHEPERSONA  |  Confidential Pre-Seed Deck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15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100000269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685800"/>
            <a:ext cx="5029200" cy="2514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33756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C6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Trust-based autonomy to prevent agentic operational loss.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1874520" y="4069080"/>
            <a:ext cx="8458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B9B5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Raising $500K pre-seed to move CONTROL TOWER from alpha-ready into beta/release, secure design partners, protect core IP, and build the foundation for scale.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4160520" y="5166360"/>
            <a:ext cx="3886200" cy="502920"/>
          </a:xfrm>
          <a:prstGeom prst="roundRect">
            <a:avLst>
              <a:gd name="adj" fmla="val 14545"/>
            </a:avLst>
          </a:prstGeom>
          <a:solidFill>
            <a:srgbClr val="090D14"/>
          </a:solidFill>
          <a:ln w="12700">
            <a:solidFill>
              <a:srgbClr val="D6A24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28032" y="5340096"/>
            <a:ext cx="2514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1E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$500K PRE-SEED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94360" y="64922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ARCHEPERSONA  |  Confidential Pre-Seed Deck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16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Backup: 15-market platform expansion map.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58B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2B34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344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C66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 enter through CONTROL TOWER. Here is how ARCHE expands.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090D14"/>
          </a:solidFill>
          <a:ln w="12700">
            <a:solidFill>
              <a:srgbClr val="2B34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1488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D6A24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CONTROL TOWER MARKETS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51560" y="254203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AI agents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51560" y="279806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Agentic AI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51560" y="3054096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Workflow automation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51560" y="33101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AI governance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51560" y="3566160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AI TRiSM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51560" y="38221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Compliance automation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51560" y="407822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Cybersecurity / AI safety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51560" y="4334256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Enterprise operations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51560" y="459028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Customer support automation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51560" y="4846320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RevOps / sales automation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0" y="1874520"/>
            <a:ext cx="4983480" cy="3931920"/>
          </a:xfrm>
          <a:prstGeom prst="roundRect">
            <a:avLst>
              <a:gd name="adj" fmla="val 1860"/>
            </a:avLst>
          </a:prstGeom>
          <a:solidFill>
            <a:srgbClr val="090D14"/>
          </a:solidFill>
          <a:ln w="12700">
            <a:solidFill>
              <a:srgbClr val="2B34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21488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D6A24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CHIMERA MARKETS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675120" y="25420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AI companions / persistent assistants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75120" y="29260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Character-based AI agents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75120" y="33101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Branded AI agents / corporate personas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675120" y="369417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Digital identity / persona systems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14400" y="6108192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C737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Source: ArchePersona Market Research &amp; Platform Expansion Analysis, June 2026.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594360" y="64922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ARCHEPERSONA  |  Confidential Pre-Seed Deck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17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Backup: ARCHEngine modules.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58B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diligence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2B34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417320"/>
            <a:ext cx="3657600" cy="4434840"/>
          </a:xfrm>
          <a:prstGeom prst="roundRect">
            <a:avLst>
              <a:gd name="adj" fmla="val 2000"/>
            </a:avLst>
          </a:prstGeom>
          <a:solidFill>
            <a:srgbClr val="090D14"/>
          </a:solidFill>
          <a:ln w="12700">
            <a:solidFill>
              <a:srgbClr val="2B34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737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D6A24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ARCHEngine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43000" y="224028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A24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V-HOLD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43000" y="27432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E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TRUST BALANCER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43000" y="32461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E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DELIVERY ROOM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43000" y="37490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E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MDSA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43000" y="42519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1E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ARKHIVE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74920" y="1417320"/>
            <a:ext cx="6263640" cy="4434840"/>
          </a:xfrm>
          <a:prstGeom prst="roundRect">
            <a:avLst>
              <a:gd name="adj" fmla="val 1649"/>
            </a:avLst>
          </a:prstGeom>
          <a:solidFill>
            <a:srgbClr val="090D14"/>
          </a:solidFill>
          <a:ln w="12700">
            <a:solidFill>
              <a:srgbClr val="2B34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17373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D6A24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INVESTOR-SAFE TRANSLATION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394960" y="22402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A24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V-HOLD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86600" y="22402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action control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94960" y="274320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A24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TRUST BALANCER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86600" y="2743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risk and confidence regulation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94960" y="32461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A24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DELIVERY ROOM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86600" y="32461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controlled response/output layer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94960" y="374904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A24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MDSA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86600" y="3749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behavioral signal analysis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94960" y="42519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A24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ARKHIVE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86600" y="4251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memory/archive layer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6126480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C737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 deep architecture, system prompts, repo structure, or internal mechanisms in the main deck.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594360" y="64922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ARCHEPERSONA  |  Confidential Pre-Seed Deck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Backup: Market risk evidence.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84124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58B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2B34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8016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B9B5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market research package includes risk statistics around enterprise AI losses, agentic AI cancellations, failed production deployments, and enterprise AI spend producing limited measurable results.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10561320" cy="3291840"/>
          </a:xfrm>
          <a:prstGeom prst="roundRect">
            <a:avLst>
              <a:gd name="adj" fmla="val 2222"/>
            </a:avLst>
          </a:prstGeom>
          <a:solidFill>
            <a:srgbClr val="090D14"/>
          </a:solidFill>
          <a:ln w="12700">
            <a:solidFill>
              <a:srgbClr val="2B34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5603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D6A24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EVIDENCE CATEGORIES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3000" y="297180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AI agent project failures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80760" y="297180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Governance gaps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" y="35661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Cost overruns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80760" y="35661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Uncontrolled usage / spend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43000" y="416052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Production system incidents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80760" y="416052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Enterprise AI spend with weak ROI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14400" y="6108192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C737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Source: ArchePersona Market Research &amp; Platform Expansion Analysis, June 2026.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594360" y="64922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ARCHEPERSONA  |  Confidential Pre-Seed Deck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75D6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19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ArchePersona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ARCHE Pre-Seed Pitch Deck</dc:title>
  <dc:subject>ARCHE Pre-Seed Pitch Deck</dc:subject>
  <dc:creator>OpenAI</dc:creator>
  <cp:lastModifiedBy>OpenAI</cp:lastModifiedBy>
  <cp:revision>1</cp:revision>
  <dcterms:created xsi:type="dcterms:W3CDTF">2026-06-17T18:56:45Z</dcterms:created>
  <dcterms:modified xsi:type="dcterms:W3CDTF">2026-06-17T18:56:45Z</dcterms:modified>
</cp:coreProperties>
</file>