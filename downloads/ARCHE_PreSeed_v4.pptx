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5" r:id="rId26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7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100000269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256032"/>
            <a:ext cx="5943600" cy="2971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419856"/>
            <a:ext cx="1028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0C6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Trust-based autonomy to prevent agentic operational loss.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1554480" y="4069080"/>
            <a:ext cx="9098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B9B5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TOWER is a mobile-first B2B SaaS control system for autonomous AI agents.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3886200" y="4736592"/>
            <a:ext cx="4434840" cy="713232"/>
          </a:xfrm>
          <a:prstGeom prst="roundRect">
            <a:avLst>
              <a:gd name="adj" fmla="val 10256"/>
            </a:avLst>
          </a:prstGeom>
          <a:solidFill>
            <a:srgbClr val="080B11"/>
          </a:solidFill>
          <a:ln w="12700">
            <a:solidFill>
              <a:srgbClr val="D6A24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4160520" y="49560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1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$500K PRE-SEED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989320" y="4882896"/>
            <a:ext cx="0" cy="36576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172200" y="495604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alpha-ready → beta/release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766A58"/>
                </a:solidFill>
                <a:latin typeface="Inter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agents are gaining action, but not accountability.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55448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next AI risk is not bad answers.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 is bad actions.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13232" y="303580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0C6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Teams need control before agents create operational loss.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0" y="1508760"/>
            <a:ext cx="4023360" cy="3611880"/>
          </a:xfrm>
          <a:prstGeom prst="roundRect">
            <a:avLst>
              <a:gd name="adj" fmla="val 2025"/>
            </a:avLst>
          </a:prstGeom>
          <a:solidFill>
            <a:srgbClr val="090D14"/>
          </a:solidFill>
          <a:ln w="12700">
            <a:solidFill>
              <a:srgbClr val="2B344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635240" y="18288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NEW FAILURE MODE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635240" y="2249424"/>
            <a:ext cx="1417320" cy="338328"/>
          </a:xfrm>
          <a:prstGeom prst="roundRect">
            <a:avLst>
              <a:gd name="adj" fmla="val 16216"/>
            </a:avLst>
          </a:prstGeom>
          <a:solidFill>
            <a:srgbClr val="121927"/>
          </a:solidFill>
          <a:ln w="12700">
            <a:solidFill>
              <a:srgbClr val="2B344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699248" y="2340864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F1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sending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9235440" y="2249424"/>
            <a:ext cx="1417320" cy="338328"/>
          </a:xfrm>
          <a:prstGeom prst="roundRect">
            <a:avLst>
              <a:gd name="adj" fmla="val 16216"/>
            </a:avLst>
          </a:prstGeom>
          <a:solidFill>
            <a:srgbClr val="121927"/>
          </a:solidFill>
          <a:ln w="12700">
            <a:solidFill>
              <a:srgbClr val="2B344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299448" y="2340864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F1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updating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635240" y="2871216"/>
            <a:ext cx="1417320" cy="338328"/>
          </a:xfrm>
          <a:prstGeom prst="roundRect">
            <a:avLst>
              <a:gd name="adj" fmla="val 16216"/>
            </a:avLst>
          </a:prstGeom>
          <a:solidFill>
            <a:srgbClr val="121927"/>
          </a:solidFill>
          <a:ln w="12700">
            <a:solidFill>
              <a:srgbClr val="2B344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699248" y="2962656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F1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routing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9235440" y="2871216"/>
            <a:ext cx="1417320" cy="338328"/>
          </a:xfrm>
          <a:prstGeom prst="roundRect">
            <a:avLst>
              <a:gd name="adj" fmla="val 16216"/>
            </a:avLst>
          </a:prstGeom>
          <a:solidFill>
            <a:srgbClr val="121927"/>
          </a:solidFill>
          <a:ln w="12700">
            <a:solidFill>
              <a:srgbClr val="2B344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299448" y="2962656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F1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approving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635240" y="3493008"/>
            <a:ext cx="1417320" cy="338328"/>
          </a:xfrm>
          <a:prstGeom prst="roundRect">
            <a:avLst>
              <a:gd name="adj" fmla="val 16216"/>
            </a:avLst>
          </a:prstGeom>
          <a:solidFill>
            <a:srgbClr val="121927"/>
          </a:solidFill>
          <a:ln w="12700">
            <a:solidFill>
              <a:srgbClr val="2B344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699248" y="3584448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F1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accessing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9235440" y="3493008"/>
            <a:ext cx="1417320" cy="338328"/>
          </a:xfrm>
          <a:prstGeom prst="roundRect">
            <a:avLst>
              <a:gd name="adj" fmla="val 16216"/>
            </a:avLst>
          </a:prstGeom>
          <a:solidFill>
            <a:srgbClr val="121927"/>
          </a:solidFill>
          <a:ln w="12700">
            <a:solidFill>
              <a:srgbClr val="2B344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299448" y="3584448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F1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spending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635240" y="44348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9B5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Wrong output becomes operational consequence when agents act across real systems.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766A58"/>
                </a:solidFill>
                <a:latin typeface="Inte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chatbots to autonomous agents.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NOW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998a4ac5-8954-49ee-8057-29fe4e5d8dc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00" y="1150000"/>
            <a:ext cx="11391695" cy="527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766A58"/>
                </a:solidFill>
                <a:latin typeface="Inter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risk is no longer theoretical.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NOW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risk_evidence_v2(1)_ren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00" y="1150000"/>
            <a:ext cx="11391695" cy="527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766A58"/>
                </a:solidFill>
                <a:latin typeface="Inter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CONTROL TOWER brings trust-based autonomy to AI agents.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solution_control_tower_ren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00" y="1150000"/>
            <a:ext cx="11391695" cy="527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766A58"/>
                </a:solidFill>
                <a:latin typeface="Inter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CONTROL TOWER works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control_tower_workflow_v2(1)_ren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00" y="1200000"/>
            <a:ext cx="11391695" cy="35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4820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B5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reviewable control flow before autonomous action reaches the business.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766A58"/>
                </a:solidFill>
                <a:latin typeface="Inter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ARCHE has two product directions.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arche_structure_v10(1)_ren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00" y="1150000"/>
            <a:ext cx="11391695" cy="527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766A58"/>
                </a:solidFill>
                <a:latin typeface="Inter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Start where agent risk is already operational.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Go-to-market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29844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CONTROL TOWER is built for businesses using AI agents.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B9B5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wedge is companies already deploying agents into workflows where mistakes can trigger operational loss: sending, updating, routing, approving, accessing, or spending across business systems.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223760" y="1325880"/>
            <a:ext cx="3977640" cy="4343400"/>
          </a:xfrm>
          <a:prstGeom prst="roundRect">
            <a:avLst>
              <a:gd name="adj" fmla="val 1839"/>
            </a:avLst>
          </a:prstGeom>
          <a:solidFill>
            <a:srgbClr val="090D14"/>
          </a:solidFill>
          <a:ln w="12700">
            <a:solidFill>
              <a:srgbClr val="2B344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543800" y="16459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INITIAL TARGETS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2057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AI automation agencies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7543800" y="2468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Internal ops teams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7543800" y="2880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RevOps / sales automation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7543800" y="3291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Customer support automation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7543800" y="3703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Operations teams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7543800" y="4114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Enterprise AI teams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7543800" y="4526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Agent builders managing deployments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758952" y="4069080"/>
            <a:ext cx="571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0C6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Any business using agents is a potential customer. CONTROL TOWER starts where agent risk is already operational.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766A58"/>
                </a:solidFill>
                <a:latin typeface="Inter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large market forming around agent control.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tam_sam_som_v5(1)_ren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00" y="1150000"/>
            <a:ext cx="11391695" cy="527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608076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C737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Source: ArchePersona Market Research &amp; Platform Expansion Analysis, June 2026.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766A58"/>
                </a:solidFill>
                <a:latin typeface="Inter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B2B SaaS for trust-based autonomy.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pricing_ladder_v2(1)_ren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00" y="1150000"/>
            <a:ext cx="11391695" cy="527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766A58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320040"/>
            <a:ext cx="11365992" cy="6080760"/>
          </a:xfrm>
          <a:prstGeom prst="roundRect">
            <a:avLst/>
          </a:prstGeom>
          <a:solidFill>
            <a:srgbClr val="070707"/>
          </a:solidFill>
          <a:ln w="12700">
            <a:solidFill>
              <a:srgbClr val="4B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8961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7E5C3"/>
                </a:solidFill>
                <a:latin typeface="DejaVu Sans"/>
              </a:rPr>
              <a:t>The gap is between agent intent and business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051560"/>
            <a:ext cx="4114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5A944"/>
                </a:solidFill>
                <a:latin typeface="Inter"/>
              </a:rPr>
              <a:t>Competition / differentiation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CAA8E"/>
                </a:solidFill>
                <a:latin typeface="Inter"/>
              </a:rPr>
              <a:t>Existing tools solve pieces of the agent stack. CONTROL TOWER focuses on the operational checkpoint before autonomous 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5A944"/>
                </a:solidFill>
                <a:latin typeface="Inter"/>
              </a:rPr>
              <a:t>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874519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5A944"/>
                </a:solidFill>
                <a:latin typeface="Inter"/>
              </a:rPr>
              <a:t>Typical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874519"/>
            <a:ext cx="5257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5A944"/>
                </a:solidFill>
                <a:latin typeface="Inter"/>
              </a:rPr>
              <a:t>Where CONTROL TOWER differs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67128"/>
            <a:ext cx="10698480" cy="502920"/>
          </a:xfrm>
          <a:prstGeom prst="rect">
            <a:avLst/>
          </a:prstGeom>
          <a:solidFill>
            <a:srgbClr val="0E0D0C"/>
          </a:solidFill>
          <a:ln w="12700">
            <a:solidFill>
              <a:srgbClr val="2C2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40280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DCB2"/>
                </a:solidFill>
                <a:latin typeface="Inter"/>
              </a:rPr>
              <a:t>Agent builders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240280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CAA8E"/>
                </a:solidFill>
                <a:latin typeface="Inter"/>
              </a:rPr>
              <a:t>Create and deploy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240280"/>
            <a:ext cx="5257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AF2E2"/>
                </a:solidFill>
                <a:latin typeface="Inter"/>
              </a:rPr>
              <a:t>Controls what agents can do before 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34056"/>
            <a:ext cx="10698480" cy="502920"/>
          </a:xfrm>
          <a:prstGeom prst="rect">
            <a:avLst/>
          </a:prstGeom>
          <a:solidFill>
            <a:srgbClr val="090908"/>
          </a:solidFill>
          <a:ln w="12700">
            <a:solidFill>
              <a:srgbClr val="2C2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07208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DCB2"/>
                </a:solidFill>
                <a:latin typeface="Inter"/>
              </a:rPr>
              <a:t>Observability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807208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CAA8E"/>
                </a:solidFill>
                <a:latin typeface="Inter"/>
              </a:rPr>
              <a:t>Monitor traces and behavior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807208"/>
            <a:ext cx="5257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AF2E2"/>
                </a:solidFill>
                <a:latin typeface="Inter"/>
              </a:rPr>
              <a:t>Adds approval, blocking, escalation, and audit workflow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300984"/>
            <a:ext cx="10698480" cy="502920"/>
          </a:xfrm>
          <a:prstGeom prst="rect">
            <a:avLst/>
          </a:prstGeom>
          <a:solidFill>
            <a:srgbClr val="0E0D0C"/>
          </a:solidFill>
          <a:ln w="12700">
            <a:solidFill>
              <a:srgbClr val="2C2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374136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DCB2"/>
                </a:solidFill>
                <a:latin typeface="Inter"/>
              </a:rPr>
              <a:t>AI governance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374136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CAA8E"/>
                </a:solidFill>
                <a:latin typeface="Inter"/>
              </a:rPr>
              <a:t>Policy, compliance, model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3374136"/>
            <a:ext cx="5257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AF2E2"/>
                </a:solidFill>
                <a:latin typeface="Inter"/>
              </a:rPr>
              <a:t>Focuses on runtime agent action and operator control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867912"/>
            <a:ext cx="10698480" cy="502920"/>
          </a:xfrm>
          <a:prstGeom prst="rect">
            <a:avLst/>
          </a:prstGeom>
          <a:solidFill>
            <a:srgbClr val="090908"/>
          </a:solidFill>
          <a:ln w="12700">
            <a:solidFill>
              <a:srgbClr val="2C2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941064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DCB2"/>
                </a:solidFill>
                <a:latin typeface="Inter"/>
              </a:rPr>
              <a:t>Security / identity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3941064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CAA8E"/>
                </a:solidFill>
                <a:latin typeface="Inter"/>
              </a:rPr>
              <a:t>Access, auth, permissions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3941064"/>
            <a:ext cx="5257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AF2E2"/>
                </a:solidFill>
                <a:latin typeface="Inter"/>
              </a:rPr>
              <a:t>Adds human-in-the-loop action approval and consequence records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434840"/>
            <a:ext cx="10698480" cy="502920"/>
          </a:xfrm>
          <a:prstGeom prst="rect">
            <a:avLst/>
          </a:prstGeom>
          <a:solidFill>
            <a:srgbClr val="0E0D0C"/>
          </a:solidFill>
          <a:ln w="12700">
            <a:solidFill>
              <a:srgbClr val="2C2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507992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DCB2"/>
                </a:solidFill>
                <a:latin typeface="Inter"/>
              </a:rPr>
              <a:t>Internal workflows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4507992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CAA8E"/>
                </a:solidFill>
                <a:latin typeface="Inter"/>
              </a:rPr>
              <a:t>Manual review processes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4507992"/>
            <a:ext cx="5257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AF2E2"/>
                </a:solidFill>
                <a:latin typeface="Inter"/>
              </a:rPr>
              <a:t>Purpose-built for agentic operational risk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440680"/>
            <a:ext cx="10652760" cy="594360"/>
          </a:xfrm>
          <a:prstGeom prst="roundRect">
            <a:avLst/>
          </a:prstGeom>
          <a:solidFill>
            <a:srgbClr val="120F0A"/>
          </a:solidFill>
          <a:ln w="12700">
            <a:solidFill>
              <a:srgbClr val="E5A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605272"/>
            <a:ext cx="10149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7E5C3"/>
                </a:solidFill>
                <a:latin typeface="Inter"/>
              </a:rPr>
              <a:t>CONTROL TOWER does not just monitor agents. It gives teams a trust checkpoint before autonomous actions reach the business.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66A58"/>
                </a:solidFill>
                <a:latin typeface="Inter"/>
              </a:rPr>
              <a:t>ARCHEPERSONA  |  Confidential Pre-Seed Deck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45952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>
                <a:solidFill>
                  <a:srgbClr val="766A58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ARCHE is not pre-product.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Traction / proof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234440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BRUNEL is live and demonstrates ARCHE’s behavior engine in real interaction.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0C6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CONTROL TOWER is alpha-ready as the first commercial product for trust-based autonomy.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0" y="1325880"/>
            <a:ext cx="3977640" cy="4251960"/>
          </a:xfrm>
          <a:prstGeom prst="roundRect">
            <a:avLst>
              <a:gd name="adj" fmla="val 1839"/>
            </a:avLst>
          </a:prstGeom>
          <a:solidFill>
            <a:srgbClr val="090D14"/>
          </a:solidFill>
          <a:ln w="12700">
            <a:solidFill>
              <a:srgbClr val="2B344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635240" y="1664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PROOF STACK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635240" y="20665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BRUNEL live demo available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7635240" y="2542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Founder-built behavior engine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7635240" y="3017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CONTROL TOWER alpha-ready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7635240" y="34930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20K requests in 48 hours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7635240" y="39684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Visible behavioral difference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7635240" y="44439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Early investor interest after demo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777240" y="4983480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9B5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is currently product signal, demand signal, and market signal — not revenue claims.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766A58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Founder-built behavior engine, now commercializing trust-based autonomy.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 / team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founder_card_v3(1)_ren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720" y="1143000"/>
            <a:ext cx="9022080" cy="5074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766A58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alpha-ready to beta/release.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roadmap_milestones_ren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00" y="1150000"/>
            <a:ext cx="11391695" cy="527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766A58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Raising $500K pre-seed.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of funds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2801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0C6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Raising $500K pre-seed to move CONTROL TOWER from alpha-ready into beta/release, secure design partners, protect core IP, and build the foundation for scale.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" y="2423160"/>
            <a:ext cx="4983480" cy="3017520"/>
          </a:xfrm>
          <a:prstGeom prst="roundRect">
            <a:avLst>
              <a:gd name="adj" fmla="val 2424"/>
            </a:avLst>
          </a:prstGeom>
          <a:solidFill>
            <a:srgbClr val="090D14"/>
          </a:solidFill>
          <a:ln w="12700">
            <a:solidFill>
              <a:srgbClr val="2B344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43000" y="27157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USE OF FUNDS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3000" y="30632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CONTROL TOWER beta/release buildout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143000" y="334670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Patent/IP protection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143000" y="36301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Incorporation and legal formation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1143000" y="39136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CTO / technical lead hire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1143000" y="4197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Junior developer hire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1143000" y="44805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Design partner and pilot development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1143000" y="476402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Infrastructure and deployment stability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1143000" y="50474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Founder runway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400800" y="2423160"/>
            <a:ext cx="4800600" cy="3017520"/>
          </a:xfrm>
          <a:prstGeom prst="roundRect">
            <a:avLst>
              <a:gd name="adj" fmla="val 2424"/>
            </a:avLst>
          </a:prstGeom>
          <a:solidFill>
            <a:srgbClr val="090D14"/>
          </a:solidFill>
          <a:ln w="12700">
            <a:solidFill>
              <a:srgbClr val="D6A24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693408" y="27157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DISCIPLINED RAISE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693408" y="315468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Enough to convert alpha-ready product into beta/release — not an oversized round before traction is converted.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93408" y="4297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9B5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outcomes: design partners, paid pilots or LOIs, protected IP, first technical hires, and seed-ready proof.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766A58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100000269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685800"/>
            <a:ext cx="5029200" cy="2514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33756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C6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Trust-based autonomy to prevent agentic operational loss.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1874520" y="4069080"/>
            <a:ext cx="8458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B9B5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Raising $500K pre-seed to move CONTROL TOWER from alpha-ready into beta/release, secure design partners, protect core IP, and build the foundation for scale.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4160520" y="5166360"/>
            <a:ext cx="3886200" cy="502920"/>
          </a:xfrm>
          <a:prstGeom prst="roundRect">
            <a:avLst>
              <a:gd name="adj" fmla="val 14545"/>
            </a:avLst>
          </a:prstGeom>
          <a:solidFill>
            <a:srgbClr val="090D14"/>
          </a:solidFill>
          <a:ln w="12700">
            <a:solidFill>
              <a:srgbClr val="D6A24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4828032" y="5340096"/>
            <a:ext cx="2514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1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$500K PRE-SEED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766A58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Backup: 15-market platform expansion map.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2344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C6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enter through CONTROL TOWER. Here is how ARCHE expands.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090D14"/>
          </a:solidFill>
          <a:ln w="12700">
            <a:solidFill>
              <a:srgbClr val="2B344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51560" y="2148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CONTROL TOWER MARKETS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51560" y="254203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AI agents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51560" y="279806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Agentic AI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51560" y="305409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Workflow automation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51560" y="33101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AI governance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51560" y="3566160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AI TRiSM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51560" y="38221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Compliance automation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51560" y="407822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Cybersecurity / AI safety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51560" y="433425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Enterprise operations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51560" y="459028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Customer support automation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51560" y="4846320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RevOps / sales automation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0" y="1874520"/>
            <a:ext cx="4983480" cy="3931920"/>
          </a:xfrm>
          <a:prstGeom prst="roundRect">
            <a:avLst>
              <a:gd name="adj" fmla="val 1860"/>
            </a:avLst>
          </a:prstGeom>
          <a:solidFill>
            <a:srgbClr val="090D14"/>
          </a:solidFill>
          <a:ln w="12700">
            <a:solidFill>
              <a:srgbClr val="2B344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675120" y="2148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CHIMERA MARKETS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675120" y="25420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AI companions / persistent assistants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75120" y="29260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Character-based AI agents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75120" y="33101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Branded AI agents / corporate personas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75120" y="369417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Digital identity / persona systems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14400" y="6108192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C737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Source: ArchePersona Market Research &amp; Platform Expansion Analysis, June 2026.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766A58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Backup: ARCHEngine modules.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diligence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417320"/>
            <a:ext cx="3657600" cy="4434840"/>
          </a:xfrm>
          <a:prstGeom prst="roundRect">
            <a:avLst>
              <a:gd name="adj" fmla="val 2000"/>
            </a:avLst>
          </a:prstGeom>
          <a:solidFill>
            <a:srgbClr val="090D14"/>
          </a:solidFill>
          <a:ln w="12700">
            <a:solidFill>
              <a:srgbClr val="2B344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3000" y="1737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ARCHEngine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43000" y="22402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V-HOLD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3000" y="27432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TRUST BALANCER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43000" y="32461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DELIVERY ROOM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43000" y="37490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MDSA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43000" y="42519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ARKHIVE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74920" y="1417320"/>
            <a:ext cx="6263640" cy="4434840"/>
          </a:xfrm>
          <a:prstGeom prst="roundRect">
            <a:avLst>
              <a:gd name="adj" fmla="val 1649"/>
            </a:avLst>
          </a:prstGeom>
          <a:solidFill>
            <a:srgbClr val="090D14"/>
          </a:solidFill>
          <a:ln w="12700">
            <a:solidFill>
              <a:srgbClr val="2B344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394960" y="17373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INVESTOR-SAFE TRANSLATION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394960" y="22402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V-HOLD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86600" y="22402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action control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94960" y="27432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TRUST BALANCER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86600" y="2743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risk and confidence regulation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0" y="32461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DELIVERY ROOM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86600" y="3246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controlled response/output layer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94960" y="374904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MDSA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86600" y="3749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behavioral signal analysis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42519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ARKHIVE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86600" y="4251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memory/archive layer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6126480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C737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 deep architecture, system prompts, repo structure, or internal mechanisms in the main deck.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766A58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Backup: Market risk evidence.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28016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B9B5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market research package includes risk statistics around enterprise AI losses, agentic AI cancellations, failed production deployments, and enterprise AI spend producing limited measurable results.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10561320" cy="3291840"/>
          </a:xfrm>
          <a:prstGeom prst="roundRect">
            <a:avLst>
              <a:gd name="adj" fmla="val 2222"/>
            </a:avLst>
          </a:prstGeom>
          <a:solidFill>
            <a:srgbClr val="090D14"/>
          </a:solidFill>
          <a:ln w="12700">
            <a:solidFill>
              <a:srgbClr val="2B344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43000" y="2560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EVIDENCE CATEGORIES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3000" y="297180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AI agent project failures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80760" y="297180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Governance gaps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" y="35661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Cost overruns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80760" y="35661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Uncontrolled usage / spend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3000" y="416052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Production system incidents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80760" y="416052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Enterprise AI spend with weak ROI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6108192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C737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Source: ArchePersona Market Research &amp; Platform Expansion Analysis, June 2026.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766A58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320040"/>
            <a:ext cx="11365992" cy="6080760"/>
          </a:xfrm>
          <a:prstGeom prst="roundRect">
            <a:avLst/>
          </a:prstGeom>
          <a:solidFill>
            <a:srgbClr val="070707"/>
          </a:solidFill>
          <a:ln w="12700">
            <a:solidFill>
              <a:srgbClr val="4B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8961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7E5C3"/>
                </a:solidFill>
                <a:latin typeface="DejaVu Sans"/>
              </a:rPr>
              <a:t>Simple SaaS economics with clear expansion.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051560"/>
            <a:ext cx="4114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5A944"/>
                </a:solidFill>
                <a:latin typeface="Inter"/>
              </a:rPr>
              <a:t>Financials / unit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44168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BCAA8E"/>
                </a:solidFill>
                <a:latin typeface="Inter"/>
              </a:rPr>
              <a:t>CONTROL TOWER starts at $499/month and scales to $2,000/month for teams managing up to 250 agents.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74519"/>
            <a:ext cx="2487168" cy="2331720"/>
          </a:xfrm>
          <a:prstGeom prst="roundRect">
            <a:avLst/>
          </a:prstGeom>
          <a:solidFill>
            <a:srgbClr val="100F0D"/>
          </a:solidFill>
          <a:ln w="12700">
            <a:solidFill>
              <a:srgbClr val="534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75688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E5A944"/>
                </a:solidFill>
                <a:latin typeface="Inter"/>
              </a:rPr>
              <a:t>BASE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395728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AF2E2"/>
                </a:solidFill>
                <a:latin typeface="DejaVu Sans"/>
              </a:rPr>
              <a:t>$499/mo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90779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7E5C3"/>
                </a:solidFill>
                <a:latin typeface="Inter"/>
              </a:rPr>
              <a:t>$5,988 ARR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3756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BCAA8E"/>
                </a:solidFill>
                <a:latin typeface="Inter"/>
              </a:rPr>
              <a:t>Up to 5 agents</a:t>
            </a:r>
            <a:br/>
            <a:r>
              <a:rPr sz="1100" b="0" i="0">
                <a:solidFill>
                  <a:srgbClr val="BCAA8E"/>
                </a:solidFill>
                <a:latin typeface="Inter"/>
              </a:rPr>
              <a:t>Approval + audit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2152" y="1874519"/>
            <a:ext cx="2487168" cy="2331720"/>
          </a:xfrm>
          <a:prstGeom prst="roundRect">
            <a:avLst/>
          </a:prstGeom>
          <a:solidFill>
            <a:srgbClr val="100F0D"/>
          </a:solidFill>
          <a:ln w="12700">
            <a:solidFill>
              <a:srgbClr val="E5A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2" y="2075688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E5A944"/>
                </a:solidFill>
                <a:latin typeface="Inter"/>
              </a:rPr>
              <a:t>SCALED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395728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AF2E2"/>
                </a:solidFill>
                <a:latin typeface="DejaVu Sans"/>
              </a:rPr>
              <a:t>$2,000/mo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90779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7E5C3"/>
                </a:solidFill>
                <a:latin typeface="Inter"/>
              </a:rPr>
              <a:t>$24,000 ARR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333756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BCAA8E"/>
                </a:solidFill>
                <a:latin typeface="Inter"/>
              </a:rPr>
              <a:t>Up to 250 agents</a:t>
            </a:r>
            <a:br/>
            <a:r>
              <a:rPr sz="1100" b="0" i="0">
                <a:solidFill>
                  <a:srgbClr val="BCAA8E"/>
                </a:solidFill>
                <a:latin typeface="Inter"/>
              </a:rPr>
              <a:t>Full governance stack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1874519"/>
            <a:ext cx="4663440" cy="2331720"/>
          </a:xfrm>
          <a:prstGeom prst="roundRect">
            <a:avLst/>
          </a:prstGeom>
          <a:solidFill>
            <a:srgbClr val="0C0C0B"/>
          </a:solidFill>
          <a:ln w="12700">
            <a:solidFill>
              <a:srgbClr val="534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057400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5A944"/>
                </a:solidFill>
                <a:latin typeface="Inter"/>
              </a:rPr>
              <a:t>ARR PATH AT SCALED 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45059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DCB2"/>
                </a:solidFill>
                <a:latin typeface="Inter"/>
              </a:rPr>
              <a:t>10 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245059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FAF2E2"/>
                </a:solidFill>
                <a:latin typeface="DejaVu Sans"/>
              </a:rPr>
              <a:t>$240K ARR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83464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DCB2"/>
                </a:solidFill>
                <a:latin typeface="Inter"/>
              </a:rPr>
              <a:t>25 customers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83464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FAF2E2"/>
                </a:solidFill>
                <a:latin typeface="DejaVu Sans"/>
              </a:rPr>
              <a:t>$600K ARR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21868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DCB2"/>
                </a:solidFill>
                <a:latin typeface="Inter"/>
              </a:rPr>
              <a:t>50 customers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321868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FAF2E2"/>
                </a:solidFill>
                <a:latin typeface="DejaVu Sans"/>
              </a:rPr>
              <a:t>$1.2M ARR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602736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DCB2"/>
                </a:solidFill>
                <a:latin typeface="Inter"/>
              </a:rPr>
              <a:t>100 customers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360273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FAF2E2"/>
                </a:solidFill>
                <a:latin typeface="DejaVu Sans"/>
              </a:rPr>
              <a:t>$2.4M ARR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507992"/>
            <a:ext cx="10396728" cy="1261872"/>
          </a:xfrm>
          <a:prstGeom prst="roundRect">
            <a:avLst/>
          </a:prstGeom>
          <a:solidFill>
            <a:srgbClr val="0D0C0A"/>
          </a:solidFill>
          <a:ln w="12700">
            <a:solidFill>
              <a:srgbClr val="70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" y="4709160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5A944"/>
                </a:solidFill>
                <a:latin typeface="Inter"/>
              </a:rPr>
              <a:t>PRE-SEED FINANCIAL MILESTONE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" y="507492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5DCB2"/>
                </a:solidFill>
                <a:latin typeface="Inter"/>
              </a:rPr>
              <a:t>3-5 design partners  |  1-2 paid pilots or LOIs  |  beta/release-ready product  |  seed-ready revenue narrative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5468112"/>
            <a:ext cx="9784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CAA8E"/>
                </a:solidFill>
                <a:latin typeface="Inter"/>
              </a:rPr>
              <a:t>The $500K raise is designed to convert alpha-ready product into paid pilot signal and seed-ready financial proof.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66A58"/>
                </a:solidFill>
                <a:latin typeface="Inter"/>
              </a:rPr>
              <a:t>ARCHEPERSONA  |  Confidential Pre-Seed Deck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45952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>
                <a:solidFill>
                  <a:srgbClr val="766A58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320040"/>
            <a:ext cx="11365992" cy="6080760"/>
          </a:xfrm>
          <a:prstGeom prst="roundRect">
            <a:avLst/>
          </a:prstGeom>
          <a:solidFill>
            <a:srgbClr val="070707"/>
          </a:solidFill>
          <a:ln w="12700">
            <a:solidFill>
              <a:srgbClr val="4B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8961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7E5C3"/>
                </a:solidFill>
                <a:latin typeface="DejaVu Sans"/>
              </a:rPr>
              <a:t>Backup: competitive landscape examples.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051560"/>
            <a:ext cx="4114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5A944"/>
                </a:solidFill>
                <a:latin typeface="Inter"/>
              </a:rPr>
              <a:t>Competitive diligence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CAA8E"/>
                </a:solidFill>
                <a:latin typeface="Inter"/>
              </a:rPr>
              <a:t>Representative categories only. CONTROL TOWER is positioned at the operational checkpoint before agent 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38528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5A944"/>
                </a:solidFill>
                <a:latin typeface="Inter"/>
              </a:rPr>
              <a:t>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938528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5A944"/>
                </a:solidFill>
                <a:latin typeface="Inter"/>
              </a:rPr>
              <a:t>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938528"/>
            <a:ext cx="3703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5A944"/>
                </a:solidFill>
                <a:latin typeface="Inter"/>
              </a:rPr>
              <a:t>Position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79"/>
            <a:ext cx="10698480" cy="566928"/>
          </a:xfrm>
          <a:prstGeom prst="rect">
            <a:avLst/>
          </a:prstGeom>
          <a:solidFill>
            <a:srgbClr val="0E0D0C"/>
          </a:solidFill>
          <a:ln w="12700">
            <a:solidFill>
              <a:srgbClr val="2C2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13432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DCB2"/>
                </a:solidFill>
                <a:latin typeface="Inter"/>
              </a:rPr>
              <a:t>Agent builders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313432"/>
            <a:ext cx="4617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BCAA8E"/>
                </a:solidFill>
                <a:latin typeface="Inter"/>
              </a:rPr>
              <a:t>LangChain, CrewAI, AutoGen, OpenAI Agents / Assistants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313432"/>
            <a:ext cx="3703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AF2E2"/>
                </a:solidFill>
                <a:latin typeface="Inter"/>
              </a:rPr>
              <a:t>Build and orchestrate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98648"/>
            <a:ext cx="10698480" cy="566928"/>
          </a:xfrm>
          <a:prstGeom prst="rect">
            <a:avLst/>
          </a:prstGeom>
          <a:solidFill>
            <a:srgbClr val="090908"/>
          </a:solidFill>
          <a:ln w="12700">
            <a:solidFill>
              <a:srgbClr val="2C2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71800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DCB2"/>
                </a:solidFill>
                <a:latin typeface="Inter"/>
              </a:rPr>
              <a:t>Observability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971800"/>
            <a:ext cx="4617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BCAA8E"/>
                </a:solidFill>
                <a:latin typeface="Inter"/>
              </a:rPr>
              <a:t>LangSmith, Langfuse, Arize Phoenix, AgentOps-style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971800"/>
            <a:ext cx="3703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AF2E2"/>
                </a:solidFill>
                <a:latin typeface="Inter"/>
              </a:rPr>
              <a:t>Monitor traces, events, and behavior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57015"/>
            <a:ext cx="10698480" cy="566928"/>
          </a:xfrm>
          <a:prstGeom prst="rect">
            <a:avLst/>
          </a:prstGeom>
          <a:solidFill>
            <a:srgbClr val="0E0D0C"/>
          </a:solidFill>
          <a:ln w="12700">
            <a:solidFill>
              <a:srgbClr val="2C2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630168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DCB2"/>
                </a:solidFill>
                <a:latin typeface="Inter"/>
              </a:rPr>
              <a:t>Governance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630168"/>
            <a:ext cx="4617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BCAA8E"/>
                </a:solidFill>
                <a:latin typeface="Inter"/>
              </a:rPr>
              <a:t>Credo AI, Holistic AI, IBM watsonx.governance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630168"/>
            <a:ext cx="3703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AF2E2"/>
                </a:solidFill>
                <a:latin typeface="Inter"/>
              </a:rPr>
              <a:t>Policy, compliance, and model risk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215383"/>
            <a:ext cx="10698480" cy="566928"/>
          </a:xfrm>
          <a:prstGeom prst="rect">
            <a:avLst/>
          </a:prstGeom>
          <a:solidFill>
            <a:srgbClr val="090908"/>
          </a:solidFill>
          <a:ln w="12700">
            <a:solidFill>
              <a:srgbClr val="2C2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288536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DCB2"/>
                </a:solidFill>
                <a:latin typeface="Inter"/>
              </a:rPr>
              <a:t>Security / authorization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288536"/>
            <a:ext cx="4617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BCAA8E"/>
                </a:solidFill>
                <a:latin typeface="Inter"/>
              </a:rPr>
              <a:t>Arcade.dev, identity/security platforms, MCP/A2A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4288536"/>
            <a:ext cx="3703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AF2E2"/>
                </a:solidFill>
                <a:latin typeface="Inter"/>
              </a:rPr>
              <a:t>Access, permissions, runtime policy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873751"/>
            <a:ext cx="10698480" cy="566928"/>
          </a:xfrm>
          <a:prstGeom prst="rect">
            <a:avLst/>
          </a:prstGeom>
          <a:solidFill>
            <a:srgbClr val="14100A"/>
          </a:solidFill>
          <a:ln w="12700">
            <a:solidFill>
              <a:srgbClr val="E5A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46903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AF2E2"/>
                </a:solidFill>
                <a:latin typeface="Inter"/>
              </a:rPr>
              <a:t>CONTROL TOWER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946903"/>
            <a:ext cx="4617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BCAA8E"/>
                </a:solidFill>
                <a:latin typeface="Inter"/>
              </a:rPr>
              <a:t>Mobile-first trust-based autonomy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4946903"/>
            <a:ext cx="3703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AF2E2"/>
                </a:solidFill>
                <a:latin typeface="Inter"/>
              </a:rPr>
              <a:t>Approve, block, escalate, intervene, and audit before 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833872"/>
            <a:ext cx="10561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E5C3"/>
                </a:solidFill>
                <a:latin typeface="Inter"/>
              </a:rPr>
              <a:t>Strategic advantage: timing + control surface. CONTROL TOWER operates where intent becomes consequence.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66A58"/>
                </a:solidFill>
                <a:latin typeface="Inter"/>
              </a:rPr>
              <a:t>ARCHEPERSONA  |  Confidential Pre-Seed Deck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45952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>
                <a:solidFill>
                  <a:srgbClr val="766A58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ArchePersona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ARCHE Pre-Seed Pitch Deck</dc:title>
  <dc:subject>ARCHE Pre-Seed Pitch Deck</dc:subject>
  <dc:creator>OpenAI</dc:creator>
  <cp:lastModifiedBy>OpenAI</cp:lastModifiedBy>
  <cp:revision>1</cp:revision>
  <dcterms:created xsi:type="dcterms:W3CDTF">2026-06-17T18:56:45Z</dcterms:created>
  <dcterms:modified xsi:type="dcterms:W3CDTF">2026-06-17T18:56:45Z</dcterms:modified>
</cp:coreProperties>
</file>